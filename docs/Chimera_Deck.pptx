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286000"/>
            <a:ext cx="1280160" cy="38100"/>
          </a:xfrm>
          <a:prstGeom prst="rect">
            <a:avLst/>
          </a:prstGeom>
          <a:solidFill>
            <a:srgbClr val="2ED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E7E9EE"/>
                </a:solidFill>
                <a:latin typeface="Arial"/>
              </a:rPr>
              <a:t>Chimera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ED6A6"/>
                </a:solidFill>
                <a:latin typeface="Arial"/>
              </a:rPr>
              <a:t>A closed-loop adversarial lab for GenAI-era payment fraud.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09F"/>
                </a:solidFill>
                <a:latin typeface="Arial"/>
              </a:rPr>
              <a:t>Discover emerging fraud, simulate it at fidelity across card, real-time and agentic rails,</a:t>
            </a:r>
          </a:p>
          <a:p>
            <a:pPr algn="l"/>
            <a:r>
              <a:rPr sz="1500" b="0">
                <a:solidFill>
                  <a:srgbClr val="8A909F"/>
                </a:solidFill>
                <a:latin typeface="Arial"/>
              </a:rPr>
              <a:t>and harden a detector on what it misses. Identify, generate, defend - one feedback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09F"/>
                </a:solidFill>
                <a:latin typeface="Arial"/>
              </a:rPr>
              <a:t>Mastercard Innovation Challenge @ GFF 2026 · AI Defense Lab for Payment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38100"/>
          </a:xfrm>
          <a:prstGeom prst="rect">
            <a:avLst/>
          </a:prstGeom>
          <a:solidFill>
            <a:srgbClr val="FF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C49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Static defences decay the moment fraud changes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7E9EE"/>
                </a:solidFill>
                <a:latin typeface="Arial"/>
              </a:rPr>
              <a:t>· GenAI made fraud faster, cheaper and adaptive: deepfakes ~11% of global fraud, biometric-fraud</a:t>
            </a:r>
          </a:p>
          <a:p>
            <a:pPr algn="l"/>
            <a:r>
              <a:rPr sz="1500" b="0">
                <a:solidFill>
                  <a:srgbClr val="E7E9EE"/>
                </a:solidFill>
                <a:latin typeface="Arial"/>
              </a:rPr>
              <a:t>  deepfake attempts up ~58%, Fraud-as-a-Service from ~$50/mo.</a:t>
            </a:r>
          </a:p>
          <a:p>
            <a:pPr algn="l"/>
            <a:r>
              <a:rPr sz="15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500" b="0">
                <a:solidFill>
                  <a:srgbClr val="E7E9EE"/>
                </a:solidFill>
                <a:latin typeface="Arial"/>
              </a:rPr>
              <a:t>· 2026 frontier: agentic commerce. Autonomous agents transact on delegated tokens with no step-up;</a:t>
            </a:r>
          </a:p>
          <a:p>
            <a:pPr algn="l"/>
            <a:r>
              <a:rPr sz="1500" b="0">
                <a:solidFill>
                  <a:srgbClr val="E7E9EE"/>
                </a:solidFill>
                <a:latin typeface="Arial"/>
              </a:rPr>
              <a:t>  Visa logged a 450%+ rise in dark-web 'AI Agent' chatter; agents run live carding at machine speed.</a:t>
            </a:r>
          </a:p>
          <a:p>
            <a:pPr algn="l"/>
            <a:r>
              <a:rPr sz="15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500" b="0">
                <a:solidFill>
                  <a:srgbClr val="E7E9EE"/>
                </a:solidFill>
                <a:latin typeface="Arial"/>
              </a:rPr>
              <a:t>· Real-time rails are the laundering surface: 524k mule accounts flagged in India in March 2026 alone.</a:t>
            </a:r>
          </a:p>
          <a:p>
            <a:pPr algn="l"/>
            <a:r>
              <a:rPr sz="15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500" b="0">
                <a:solidFill>
                  <a:srgbClr val="E7E9EE"/>
                </a:solidFill>
                <a:latin typeface="Arial"/>
              </a:rPr>
              <a:t>· Evaluating one classifier on a fixed dataset measures fit to yesterday's fraud - not robustness to an</a:t>
            </a:r>
          </a:p>
          <a:p>
            <a:pPr algn="l"/>
            <a:r>
              <a:rPr sz="1500" b="0">
                <a:solidFill>
                  <a:srgbClr val="E7E9EE"/>
                </a:solidFill>
                <a:latin typeface="Arial"/>
              </a:rPr>
              <a:t>  adaptive adversary. The challenge asks for a loop. I built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38100"/>
          </a:xfrm>
          <a:prstGeom prst="rect">
            <a:avLst/>
          </a:prstGeom>
          <a:solidFill>
            <a:srgbClr val="2ED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D6A6"/>
                </a:solidFill>
                <a:latin typeface="Arial"/>
              </a:rP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One system, three pillars, one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3566160" cy="2377440"/>
          </a:xfrm>
          <a:prstGeom prst="rect">
            <a:avLst/>
          </a:prstGeom>
          <a:solidFill>
            <a:srgbClr val="0E1016"/>
          </a:solidFill>
          <a:ln>
            <a:solidFill>
              <a:srgbClr val="2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8CF0"/>
                </a:solidFill>
                <a:latin typeface="Arial"/>
              </a:rP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E9EE"/>
                </a:solidFill>
                <a:latin typeface="Arial"/>
              </a:rPr>
              <a:t>ATT&amp;CK-style taxonomy of 16 GenAI fraud techniques +</a:t>
            </a:r>
          </a:p>
          <a:p>
            <a:pPr algn="l"/>
            <a:r>
              <a:rPr sz="1200" b="0">
                <a:solidFill>
                  <a:srgbClr val="E7E9EE"/>
                </a:solidFill>
                <a:latin typeface="Arial"/>
              </a:rPr>
              <a:t>live RAG ideation agent (LangGraph / Groq gpt-oss-120b)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103120"/>
            <a:ext cx="3566160" cy="2377440"/>
          </a:xfrm>
          <a:prstGeom prst="rect">
            <a:avLst/>
          </a:prstGeom>
          <a:solidFill>
            <a:srgbClr val="0E1016"/>
          </a:solidFill>
          <a:ln>
            <a:solidFill>
              <a:srgbClr val="2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5C49"/>
                </a:solidFill>
                <a:latin typeface="Arial"/>
              </a:rPr>
              <a:t>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346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E9EE"/>
                </a:solidFill>
                <a:latin typeface="Arial"/>
              </a:rPr>
              <a:t>Multi-rail simulator + entity graph + hard negatives +</a:t>
            </a:r>
          </a:p>
          <a:p>
            <a:pPr algn="l"/>
            <a:r>
              <a:rPr sz="1200" b="0">
                <a:solidFill>
                  <a:srgbClr val="E7E9EE"/>
                </a:solidFill>
                <a:latin typeface="Arial"/>
              </a:rPr>
              <a:t>9 attack synthesizers + adversarial evasion search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103120"/>
            <a:ext cx="3566160" cy="2377440"/>
          </a:xfrm>
          <a:prstGeom prst="rect">
            <a:avLst/>
          </a:prstGeom>
          <a:solidFill>
            <a:srgbClr val="0E1016"/>
          </a:solidFill>
          <a:ln>
            <a:solidFill>
              <a:srgbClr val="2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D6A6"/>
                </a:solidFill>
                <a:latin typeface="Arial"/>
              </a:rPr>
              <a:t>DEFEND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8346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E9EE"/>
                </a:solidFill>
                <a:latin typeface="Arial"/>
              </a:rPr>
              <a:t>LightGBM + novelty channel + agent-identity features +</a:t>
            </a:r>
          </a:p>
          <a:p>
            <a:pPr algn="l"/>
            <a:r>
              <a:rPr sz="1200" b="0">
                <a:solidFill>
                  <a:srgbClr val="E7E9EE"/>
                </a:solidFill>
                <a:latin typeface="Arial"/>
              </a:rPr>
              <a:t>SHAP reason codes + cost-aware operating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D6A6"/>
                </a:solidFill>
                <a:latin typeface="Arial"/>
              </a:rPr>
              <a:t>The loop: identify → generate (evolve evasion) → detect → evaluate → retrain on what breaks through →</a:t>
            </a:r>
          </a:p>
          <a:p>
            <a:pPr algn="l"/>
            <a:r>
              <a:rPr sz="1400" b="0">
                <a:solidFill>
                  <a:srgbClr val="2ED6A6"/>
                </a:solidFill>
                <a:latin typeface="Arial"/>
              </a:rPr>
              <a:t>re-ideate. Shipped as a plain engine and as a LangGraph multi-agent StateGraph.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38100"/>
          </a:xfrm>
          <a:prstGeom prst="rect">
            <a:avLst/>
          </a:prstGeom>
          <a:solidFill>
            <a:srgbClr val="2ED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D6A6"/>
                </a:solidFill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One codebase, three pillars, one loop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108813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38100"/>
          </a:xfrm>
          <a:prstGeom prst="rect">
            <a:avLst/>
          </a:prstGeom>
          <a:solidFill>
            <a:srgbClr val="8B8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8CF0"/>
                </a:solidFill>
                <a:latin typeface="Arial"/>
              </a:rPr>
              <a:t>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A live multi-agent system (LangGraph)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2606040" cy="1828800"/>
          </a:xfrm>
          <a:prstGeom prst="rect">
            <a:avLst/>
          </a:prstGeom>
          <a:solidFill>
            <a:srgbClr val="0E1016"/>
          </a:solidFill>
          <a:ln>
            <a:solidFill>
              <a:srgbClr val="2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8CF0"/>
                </a:solidFill>
                <a:latin typeface="Arial"/>
              </a:rPr>
              <a:t>RECON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E9EE"/>
                </a:solidFill>
                <a:latin typeface="Arial"/>
              </a:rPr>
              <a:t>RAG-grounded ideation</a:t>
            </a:r>
          </a:p>
          <a:p>
            <a:pPr algn="l"/>
            <a:r>
              <a:rPr sz="1100" b="0">
                <a:solidFill>
                  <a:srgbClr val="E7E9EE"/>
                </a:solidFill>
                <a:latin typeface="Arial"/>
              </a:rPr>
              <a:t>proposes novel variants</a:t>
            </a:r>
          </a:p>
          <a:p>
            <a:pPr algn="l"/>
            <a:r>
              <a:rPr sz="1100" b="0">
                <a:solidFill>
                  <a:srgbClr val="E7E9EE"/>
                </a:solidFill>
                <a:latin typeface="Arial"/>
              </a:rPr>
              <a:t>(gpt-oss-120b)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8688" y="2743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A909F"/>
                </a:solidFill>
                <a:latin typeface="Arial"/>
              </a:rP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3008" y="2103120"/>
            <a:ext cx="2606040" cy="1828800"/>
          </a:xfrm>
          <a:prstGeom prst="rect">
            <a:avLst/>
          </a:prstGeom>
          <a:solidFill>
            <a:srgbClr val="0E1016"/>
          </a:solidFill>
          <a:ln>
            <a:solidFill>
              <a:srgbClr val="2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8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C49"/>
                </a:solidFill>
                <a:latin typeface="Arial"/>
              </a:rPr>
              <a:t>RED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8" y="26974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E9EE"/>
                </a:solidFill>
                <a:latin typeface="Arial"/>
              </a:rPr>
              <a:t>evolutionary search</a:t>
            </a:r>
          </a:p>
          <a:p>
            <a:pPr algn="l"/>
            <a:r>
              <a:rPr sz="1100" b="0">
                <a:solidFill>
                  <a:srgbClr val="E7E9EE"/>
                </a:solidFill>
                <a:latin typeface="Arial"/>
              </a:rPr>
              <a:t>tunes each attack to</a:t>
            </a:r>
          </a:p>
          <a:p>
            <a:pPr algn="l"/>
            <a:r>
              <a:rPr sz="1100" b="0">
                <a:solidFill>
                  <a:srgbClr val="E7E9EE"/>
                </a:solidFill>
                <a:latin typeface="Arial"/>
              </a:rPr>
              <a:t>evade the live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1616" y="2743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A909F"/>
                </a:solidFill>
                <a:latin typeface="Arial"/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45936" y="2103120"/>
            <a:ext cx="2606040" cy="1828800"/>
          </a:xfrm>
          <a:prstGeom prst="rect">
            <a:avLst/>
          </a:prstGeom>
          <a:solidFill>
            <a:srgbClr val="0E1016"/>
          </a:solidFill>
          <a:ln>
            <a:solidFill>
              <a:srgbClr val="2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C49"/>
                </a:solidFill>
                <a:latin typeface="Arial"/>
              </a:rPr>
              <a:t>ATTACK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6974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E9EE"/>
                </a:solidFill>
                <a:latin typeface="Arial"/>
              </a:rPr>
              <a:t>generates the evasive</a:t>
            </a:r>
          </a:p>
          <a:p>
            <a:pPr algn="l"/>
            <a:r>
              <a:rPr sz="1100" b="0">
                <a:solidFill>
                  <a:srgbClr val="E7E9EE"/>
                </a:solidFill>
                <a:latin typeface="Arial"/>
              </a:rPr>
              <a:t>stream, measures the</a:t>
            </a:r>
          </a:p>
          <a:p>
            <a:pPr algn="l"/>
            <a:r>
              <a:rPr sz="1100" b="0">
                <a:solidFill>
                  <a:srgbClr val="E7E9EE"/>
                </a:solidFill>
                <a:latin typeface="Arial"/>
              </a:rPr>
              <a:t>breach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4544" y="2743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A909F"/>
                </a:solidFill>
                <a:latin typeface="Arial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98863" y="2103120"/>
            <a:ext cx="2606040" cy="1828800"/>
          </a:xfrm>
          <a:prstGeom prst="rect">
            <a:avLst/>
          </a:prstGeom>
          <a:solidFill>
            <a:srgbClr val="0E1016"/>
          </a:solidFill>
          <a:ln>
            <a:solidFill>
              <a:srgbClr val="2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3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D6A6"/>
                </a:solidFill>
                <a:latin typeface="Arial"/>
              </a:rPr>
              <a:t>BLUE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3" y="269748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7E9EE"/>
                </a:solidFill>
                <a:latin typeface="Arial"/>
              </a:rPr>
              <a:t>retrains on the misses,</a:t>
            </a:r>
          </a:p>
          <a:p>
            <a:pPr algn="l"/>
            <a:r>
              <a:rPr sz="1100" b="0">
                <a:solidFill>
                  <a:srgbClr val="E7E9EE"/>
                </a:solidFill>
                <a:latin typeface="Arial"/>
              </a:rPr>
              <a:t>measures the recovery,</a:t>
            </a:r>
          </a:p>
          <a:p>
            <a:pPr algn="l"/>
            <a:r>
              <a:rPr sz="1100" b="0">
                <a:solidFill>
                  <a:srgbClr val="E7E9EE"/>
                </a:solidFill>
                <a:latin typeface="Arial"/>
              </a:rPr>
              <a:t>then the graph cycles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ED6A6"/>
                </a:solidFill>
                <a:latin typeface="Arial"/>
              </a:rPr>
              <a:t>A compiled StateGraph cycles recon -&gt; red_team -&gt; attack -&gt; blue_team until the round budget is spent.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0060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09F"/>
                </a:solidFill>
                <a:latin typeface="Consolas"/>
              </a:rPr>
              <a:t>Execution trace (this report was generated by the graph):</a:t>
            </a:r>
          </a:p>
          <a:p>
            <a:pPr algn="l"/>
            <a:r>
              <a:rPr sz="1100" b="0">
                <a:solidFill>
                  <a:srgbClr val="8A909F"/>
                </a:solidFill>
                <a:latin typeface="Consolas"/>
              </a:rPr>
              <a:t>baseline: detector recall 72.9% @ thr=1.000</a:t>
            </a:r>
          </a:p>
          <a:p>
            <a:pPr algn="l"/>
            <a:r>
              <a:rPr sz="1100" b="0">
                <a:solidFill>
                  <a:srgbClr val="8A909F"/>
                </a:solidFill>
                <a:latin typeface="Consolas"/>
              </a:rPr>
              <a:t>[round 1] red_team: evolved evasive parameters for 9 vectors</a:t>
            </a:r>
          </a:p>
          <a:p>
            <a:pPr algn="l"/>
            <a:r>
              <a:rPr sz="1100" b="0">
                <a:solidFill>
                  <a:srgbClr val="8A909F"/>
                </a:solidFill>
                <a:latin typeface="Consolas"/>
              </a:rPr>
              <a:t>[round 1] recon: 9 RAG-grounded variants proposed (groq:openai/gpt-oss-120b)</a:t>
            </a:r>
          </a:p>
          <a:p>
            <a:pPr algn="l"/>
            <a:r>
              <a:rPr sz="1100" b="0">
                <a:solidFill>
                  <a:srgbClr val="8A909F"/>
                </a:solidFill>
                <a:latin typeface="Consolas"/>
              </a:rPr>
              <a:t>[round 1] attack: evasive stream breaches to 19.2% recall</a:t>
            </a:r>
          </a:p>
          <a:p>
            <a:pPr algn="l"/>
            <a:r>
              <a:rPr sz="1100" b="0">
                <a:solidFill>
                  <a:srgbClr val="8A909F"/>
                </a:solidFill>
                <a:latin typeface="Consolas"/>
              </a:rPr>
              <a:t>[round 1] blue_team: retrained, recovers to 82.9% recall</a:t>
            </a:r>
          </a:p>
          <a:p>
            <a:pPr algn="l"/>
            <a:r>
              <a:rPr sz="1100" b="0">
                <a:solidFill>
                  <a:srgbClr val="8A909F"/>
                </a:solidFill>
                <a:latin typeface="Consolas"/>
              </a:rPr>
              <a:t>[round 2] red_team: evolved evasive parameters for 9 vectors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38100"/>
          </a:xfrm>
          <a:prstGeom prst="rect">
            <a:avLst/>
          </a:prstGeom>
          <a:solidFill>
            <a:srgbClr val="8B8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8CF0"/>
                </a:solidFill>
                <a:latin typeface="Arial"/>
              </a:rPr>
              <a:t>IDENTIFY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Mapping the threat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A payment-fraud ATT&amp;CK matrix: 6 kill-chain tactics x 16 techniques, each grounded in 2026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intelligence with the observable signatures a defender can exploit. Nine simulated end-to-end.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Novel, high-signal vectors I cover: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· Delegated-token / agent-identity abuse - a hijacked agent spends inside a cardholder's mandate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  (Agent Pay, Trusted Agent Protocol). The 2026 frontier, and my headline new capability.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· Agentic-commerce carding - machine-speed abuse of delegated agent tokens.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· Deepfake-authorised push payments - cloned voice/video; the victim authorises, so auth can't stop it.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· Money-mule networks - fan-in / fan-out layering within minutes on real-time rails.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· Synthetic-identity bust-out, account takeover, pig-butchering, structuring, card testing.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Ideation agent: RAG-grounds where the detector is weak and proposes novel variants as structured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specs. Runs live on Groq gpt-oss-120b (every loop round is tagged with the model) or an offline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planner - the demo never breaks.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38100"/>
          </a:xfrm>
          <a:prstGeom prst="rect">
            <a:avLst/>
          </a:prstGeom>
          <a:solidFill>
            <a:srgbClr val="FF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C49"/>
                </a:solidFill>
                <a:latin typeface="Arial"/>
              </a:rPr>
              <a:t>GENERATE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Fidelity is the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· Realistic population: 237,905 events, 1.39% fraud, across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  card-not-present, card-present and real-time A2A, plus a shared agentic channel.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· Entity graph (accounts, devices, merchants, payees) so coordinated attacks surface as structure.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· Hard negatives - the credibility centrepiece. I inject legitimate look-alikes (benign agentic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  shopping, large first-time payees, travel, collector accounts, recurring investments) into the exact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  feature regions where fraud lives. Without them any single flag separates the classes and AUC is a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  meaningless 1.0.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· Adversarial evasion: a black-box evolutionary search tunes each attack's shape (not volume) to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  minimise the live detector's risk - the generator becomes a live red team.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38100"/>
          </a:xfrm>
          <a:prstGeom prst="rect">
            <a:avLst/>
          </a:prstGeom>
          <a:solidFill>
            <a:srgbClr val="2ED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D6A6"/>
                </a:solidFill>
                <a:latin typeface="Arial"/>
              </a:rPr>
              <a:t>DEFEND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Accuracy with an honest novelty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· Supervised: LightGBM on ~45 features - event, behavioural velocity (per-account windows,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  inter-arrival, amount z-score vs own history), structural (device fan-out, counterparty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  in-degree, A2A graph degree + PageRank), and an agent-identity family (attestation, directory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  trust, mandate-cap breach, agent-id replay fan-out) for delegated-token abuse.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· Novelty channel: isolation forest + PCA reconstruction on legit-only traffic. Flags unseen attack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  types the supervised model was never trained on - the zero-day answer.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· Explainability: per-event reason codes via exact TreeSHAP (no extra serving dependency).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· Cost-aware operating point: fraud value recovered + alerts per 10k + a cost-optimal threshold -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  the metrics a fraud desk signs off. Mitigation: risk -&gt; allow / step-up / hold / block.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38100"/>
          </a:xfrm>
          <a:prstGeom prst="rect">
            <a:avLst/>
          </a:prstGeom>
          <a:solidFill>
            <a:srgbClr val="2ED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D6A6"/>
                </a:solidFill>
                <a:latin typeface="Arial"/>
              </a:rPr>
              <a:t>RESULTS ·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Strong, and reported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2651760" cy="1371600"/>
          </a:xfrm>
          <a:prstGeom prst="rect">
            <a:avLst/>
          </a:prstGeom>
          <a:solidFill>
            <a:srgbClr val="0E1016"/>
          </a:solidFill>
          <a:ln>
            <a:solidFill>
              <a:srgbClr val="2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A909F"/>
                </a:solidFill>
                <a:latin typeface="Arial"/>
              </a:rPr>
              <a:t>ROC-AUC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D6A6"/>
                </a:solidFill>
                <a:latin typeface="Arial"/>
              </a:rPr>
              <a:t>1.0000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011680"/>
            <a:ext cx="2651760" cy="1371600"/>
          </a:xfrm>
          <a:prstGeom prst="rect">
            <a:avLst/>
          </a:prstGeom>
          <a:solidFill>
            <a:srgbClr val="0E1016"/>
          </a:solidFill>
          <a:ln>
            <a:solidFill>
              <a:srgbClr val="2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A909F"/>
                </a:solidFill>
                <a:latin typeface="Arial"/>
              </a:rPr>
              <a:t>PR-AUC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60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D6A6"/>
                </a:solidFill>
                <a:latin typeface="Arial"/>
              </a:rPr>
              <a:t>0.9999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2651760" cy="1371600"/>
          </a:xfrm>
          <a:prstGeom prst="rect">
            <a:avLst/>
          </a:prstGeom>
          <a:solidFill>
            <a:srgbClr val="0E1016"/>
          </a:solidFill>
          <a:ln>
            <a:solidFill>
              <a:srgbClr val="2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A909F"/>
                </a:solidFill>
                <a:latin typeface="Arial"/>
              </a:rPr>
              <a:t>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D6A6"/>
                </a:solidFill>
                <a:latin typeface="Arial"/>
              </a:rPr>
              <a:t>0.995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2011680"/>
            <a:ext cx="2651760" cy="1371600"/>
          </a:xfrm>
          <a:prstGeom prst="rect">
            <a:avLst/>
          </a:prstGeom>
          <a:solidFill>
            <a:srgbClr val="0E1016"/>
          </a:solidFill>
          <a:ln>
            <a:solidFill>
              <a:srgbClr val="2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1488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A909F"/>
                </a:solidFill>
                <a:latin typeface="Arial"/>
              </a:rPr>
              <a:t>FPR @ 90% 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560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ED6A6"/>
                </a:solidFill>
                <a:latin typeface="Arial"/>
              </a:rPr>
              <a:t>0.000%</a:t>
            </a:r>
          </a:p>
        </p:txBody>
      </p:sp>
      <p:pic>
        <p:nvPicPr>
          <p:cNvPr id="17" name="Picture 16" descr="per_v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0"/>
            <a:ext cx="4937760" cy="274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40880" y="384048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Per-vector recall is deliberately uneven. Deepfake authorised-push sits lower - the victim uses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their own device and genuine auth, so it is the hardest to catch. Structural attacks are caught in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full. Near-perfect aggregate AUC reflects strong signatures on naive campaigns - the real test is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adversarial pressure (next slides).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Cost-aware operating point: 100% of fraud value recovered at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~140 alerts per 10k transactions.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38100"/>
          </a:xfrm>
          <a:prstGeom prst="rect">
            <a:avLst/>
          </a:prstGeom>
          <a:solidFill>
            <a:srgbClr val="2ED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D6A6"/>
                </a:solidFill>
                <a:latin typeface="Arial"/>
              </a:rPr>
              <a:t>RESULTS · FIDELITY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The data is genuinely hard, by design</a:t>
            </a:r>
          </a:p>
        </p:txBody>
      </p:sp>
      <p:pic>
        <p:nvPicPr>
          <p:cNvPr id="5" name="Picture 4" descr="fidelity_am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3970421" cy="2286000"/>
          </a:xfrm>
          <a:prstGeom prst="rect">
            <a:avLst/>
          </a:prstGeom>
        </p:spPr>
      </p:pic>
      <p:pic>
        <p:nvPicPr>
          <p:cNvPr id="6" name="Picture 5" descr="fidelity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06240"/>
            <a:ext cx="3970421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9202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Fraud and legitimate traffic overlap in feature space (PCA, top). The single most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discriminative feature reaches only AUC 0.83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(acct_in_deg), so no one flag separates the classes - the model must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combine velocity, graph and behavioural signals.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Amounts follow realistic log-normal distributions per account; fraud is embedded in the same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space rather than bolted on. Hard negatives (benign agentic shopping, collector accounts,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large first-time payees) sit exactly where fraud lives - which is what makes the benchmark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credible instead of a trivial AUC of 1.0.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38100"/>
          </a:xfrm>
          <a:prstGeom prst="rect">
            <a:avLst/>
          </a:prstGeom>
          <a:solidFill>
            <a:srgbClr val="2ED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D6A6"/>
                </a:solidFill>
                <a:latin typeface="Arial"/>
              </a:rPr>
              <a:t>RESULTS ·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The ensemble earns its complexity</a:t>
            </a:r>
          </a:p>
        </p:txBody>
      </p:sp>
      <p:pic>
        <p:nvPicPr>
          <p:cNvPr id="5" name="Picture 4" descr="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5082139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1945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Held-out PR-AUC across models. Logistic regression and an isolation-forest-only detector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leave signal on the table; gradient boosting captures the non-linear velocity/graph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interactions; the novelty channel adds unseen-attack coverage on top.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Every number is a measured lift, not an assertion - the complexity is justified.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38100"/>
          </a:xfrm>
          <a:prstGeom prst="rect">
            <a:avLst/>
          </a:prstGeom>
          <a:solidFill>
            <a:srgbClr val="FF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C49"/>
                </a:solidFill>
                <a:latin typeface="Arial"/>
              </a:rPr>
              <a:t>RESULTS · THE CLOSED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The hardening curve - the whole thesis in one chart</a:t>
            </a:r>
          </a:p>
        </p:txBody>
      </p:sp>
      <p:pic>
        <p:nvPicPr>
          <p:cNvPr id="5" name="Picture 4" descr="harde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6419088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0116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Round 1: the red team finds evasion that collapses recall to 19% - a static model would be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blind. Retraining on those samples restores it.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By rounds 2-3 the red team can no longer find easy evasion against the hardened detector: the loop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converges. The defence learned to generalise across the adversary's moves.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Behavioural attacks (deepfake push, pig-butchering, structuring) can be tuned to near-invisibility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against a static model; structural attacks can't. Closed-loop retraining is what recovers the</a:t>
            </a:r>
          </a:p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evadable classes - a single static model cannot.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38100"/>
          </a:xfrm>
          <a:prstGeom prst="rect">
            <a:avLst/>
          </a:prstGeom>
          <a:solidFill>
            <a:srgbClr val="8B8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8CF0"/>
                </a:solidFill>
                <a:latin typeface="Arial"/>
              </a:rPr>
              <a:t>HEADLINE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Agentic-commerce identity abuse - the 2026 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A payment can now be initiated by an autonomous agent on a cardholder's behalf (Mastercard Agent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Pay's Agentic Token; Visa's Trusted Agent Protocol). A hijacked or malicious agent - via prompt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injection, token theft, or a rogue SDK - spends inside someone else's mandate. It looks identical to a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legitimate agent on velocity, device and cadence. Only credential integrity separates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31920"/>
            <a:ext cx="3566160" cy="2011680"/>
          </a:xfrm>
          <a:prstGeom prst="rect">
            <a:avLst/>
          </a:prstGeom>
          <a:solidFill>
            <a:srgbClr val="0E1016"/>
          </a:solidFill>
          <a:ln>
            <a:solidFill>
              <a:srgbClr val="2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8CF0"/>
                </a:solidFill>
                <a:latin typeface="Arial"/>
              </a:rPr>
              <a:t>What I simulate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E9EE"/>
                </a:solidFill>
                <a:latin typeface="Arial"/>
              </a:rPr>
              <a:t>AGENT-HIJACK: one agent id</a:t>
            </a:r>
          </a:p>
          <a:p>
            <a:pPr algn="l"/>
            <a:r>
              <a:rPr sz="1200" b="0">
                <a:solidFill>
                  <a:srgbClr val="E7E9EE"/>
                </a:solidFill>
                <a:latin typeface="Arial"/>
              </a:rPr>
              <a:t>replayed across many mandates,</a:t>
            </a:r>
          </a:p>
          <a:p>
            <a:pPr algn="l"/>
            <a:r>
              <a:rPr sz="1200" b="0">
                <a:solidFill>
                  <a:srgbClr val="E7E9EE"/>
                </a:solidFill>
                <a:latin typeface="Arial"/>
              </a:rPr>
              <a:t>off-scope spend, weak attestation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3931920"/>
            <a:ext cx="3566160" cy="2011680"/>
          </a:xfrm>
          <a:prstGeom prst="rect">
            <a:avLst/>
          </a:prstGeom>
          <a:solidFill>
            <a:srgbClr val="0E1016"/>
          </a:solidFill>
          <a:ln>
            <a:solidFill>
              <a:srgbClr val="2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8CF0"/>
                </a:solidFill>
                <a:latin typeface="Arial"/>
              </a:rPr>
              <a:t>New defence family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526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E9EE"/>
                </a:solidFill>
                <a:latin typeface="Arial"/>
              </a:rPr>
              <a:t>attestation · directory trust ·</a:t>
            </a:r>
          </a:p>
          <a:p>
            <a:pPr algn="l"/>
            <a:r>
              <a:rPr sz="1200" b="0">
                <a:solidFill>
                  <a:srgbClr val="E7E9EE"/>
                </a:solidFill>
                <a:latin typeface="Arial"/>
              </a:rPr>
              <a:t>mandate-cap breach · agent-id</a:t>
            </a:r>
          </a:p>
          <a:p>
            <a:pPr algn="l"/>
            <a:r>
              <a:rPr sz="1200" b="0">
                <a:solidFill>
                  <a:srgbClr val="E7E9EE"/>
                </a:solidFill>
                <a:latin typeface="Arial"/>
              </a:rPr>
              <a:t>replay fan-out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931920"/>
            <a:ext cx="3566160" cy="2011680"/>
          </a:xfrm>
          <a:prstGeom prst="rect">
            <a:avLst/>
          </a:prstGeom>
          <a:solidFill>
            <a:srgbClr val="0E1016"/>
          </a:solidFill>
          <a:ln>
            <a:solidFill>
              <a:srgbClr val="252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D6A6"/>
                </a:solidFill>
                <a:latin typeface="Arial"/>
              </a:rPr>
              <a:t>Unseen-vector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45262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E9EE"/>
                </a:solidFill>
                <a:latin typeface="Arial"/>
              </a:rPr>
              <a:t>supervised 15%  -&gt;  novelty 100%</a:t>
            </a:r>
          </a:p>
          <a:p>
            <a:pPr algn="l"/>
            <a:r>
              <a:rPr sz="1200" b="0">
                <a:solidFill>
                  <a:srgbClr val="E7E9EE"/>
                </a:solidFill>
                <a:latin typeface="Arial"/>
              </a:rPr>
              <a:t>(trained with this attack fully</a:t>
            </a:r>
          </a:p>
          <a:p>
            <a:pPr algn="l"/>
            <a:r>
              <a:rPr sz="1200" b="0">
                <a:solidFill>
                  <a:srgbClr val="E7E9EE"/>
                </a:solidFill>
                <a:latin typeface="Arial"/>
              </a:rPr>
              <a:t>removed, then scored on it)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38100"/>
          </a:xfrm>
          <a:prstGeom prst="rect">
            <a:avLst/>
          </a:prstGeom>
          <a:solidFill>
            <a:srgbClr val="8B8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8CF0"/>
                </a:solidFill>
                <a:latin typeface="Arial"/>
              </a:rPr>
              <a:t>WHY IT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Novelty &amp; real-world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Novel: a working closed loop with a measured hardening curve; agentic-commerce identity abuse as a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first-class simulated vector with a matching defence family; live red-team ideation from an open-weight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model (gpt-oss-120b) running in the real loop; adversarial evasion as a live red team; a novelty channel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evaluated with leave-one-vector-out; cost-aware, hard-negative-driven reporting.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Feasible: the schema is what a real switch sees at authorisation; controls map to 3-DS step-up and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RBI friction / kill-switch; graph features mirror NPCI MuleHunter-style detection. On live data,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features move to a streaming store (point-in-time correct) and the loop becomes a scheduled retrain.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Paid infrastructure is a quality dial, not a rewrite: managed embeddings + vector DB for richer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ideation, a temporal GNN for large rings, a hosted endpoint for always-on live variant generation.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38100"/>
          </a:xfrm>
          <a:prstGeom prst="rect">
            <a:avLst/>
          </a:prstGeom>
          <a:solidFill>
            <a:srgbClr val="2ED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D6A6"/>
                </a:solidFill>
                <a:latin typeface="Arial"/>
              </a:rPr>
              <a:t>SELF-ASSESSMENT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How this maps to the five judging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D6A6"/>
                </a:solidFill>
                <a:latin typeface="Arial"/>
              </a:rPr>
              <a:t>Diversity of attacks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19659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16 techniques, 9 simulated across card / real-time / agentic rails, plus a live agent that proposes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D6A6"/>
                </a:solidFill>
                <a:latin typeface="Arial"/>
              </a:rPr>
              <a:t>Fidelity of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834639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Latent-profile population, entity graph, hard negatives - best single-feature AUC only 0.84.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D6A6"/>
                </a:solidFill>
                <a:latin typeface="Arial"/>
              </a:rPr>
              <a:t>Detection efficacy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7033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LightGBM + novelty + agent-identity features; 100% of fraud value caught at ~140 alerts / 10k.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D6A6"/>
                </a:solidFill>
                <a:latin typeface="Arial"/>
              </a:rPr>
              <a:t>Novelty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45720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Closed loop with a measured hardening curve; agentic-commerce identity abuse; a live multi-agent red team.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D6A6"/>
                </a:solidFill>
                <a:latin typeface="Arial"/>
              </a:rPr>
              <a:t>Real-world feasibility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54406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7E9EE"/>
                </a:solidFill>
                <a:latin typeface="Arial"/>
              </a:rPr>
              <a:t>Auth-time schema, graded controls, NPCI-style graph signals, Agent Pay / TAP field mapping, streaming path.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822960" cy="38100"/>
          </a:xfrm>
          <a:prstGeom prst="rect">
            <a:avLst/>
          </a:prstGeom>
          <a:solidFill>
            <a:srgbClr val="2ED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D6A6"/>
                </a:solidFill>
                <a:latin typeface="Arial"/>
              </a:rPr>
              <a:t>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7E9EE"/>
                </a:solidFill>
                <a:latin typeface="Arial"/>
              </a:rPr>
              <a:t>Defensive by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· Runs entirely on synthetic data it generates itself - no real cardholders, PII, credentials or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  live payment connectivity.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· Attack modules are parameterised statistical patterns (amounts, timing, graph shape) that stress a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  detector - not operational playbooks, social-engineering scripts, or working exploit code, and they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  cannot be pointed at a real system.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· One-directional value: the red team exists only to harden the blue team. The output is a stronger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  detector plus a prioritised view of which vectors most need human review and step-up controls.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· In production this belongs inside a bank's controlled environment with human oversight, aligned to</a:t>
            </a:r>
          </a:p>
          <a:p>
            <a:pPr algn="l"/>
            <a:r>
              <a:rPr sz="1400" b="0">
                <a:solidFill>
                  <a:srgbClr val="E7E9EE"/>
                </a:solidFill>
                <a:latin typeface="Arial"/>
              </a:rPr>
              <a:t>  responsible-AI and model-risk governance.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09F"/>
                </a:solidFill>
                <a:latin typeface="Arial"/>
              </a:rPr>
              <a:t>Chimera · identify · generate · defend · one 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